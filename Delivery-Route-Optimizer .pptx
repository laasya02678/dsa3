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922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KY">
    <p:bg>
      <p:bgPr>
        <a:solidFill>
          <a:srgbClr val="78C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LH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8600"/>
            <a:ext cx="1647411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3716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D60"/>
                </a:solidFill>
              </a:rPr>
              <a:t>Delivery Route Optimizer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68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1D60"/>
                </a:solidFill>
              </a:rPr>
              <a:t>Smart logistics management system</a:t>
            </a:r>
            <a:endParaRPr lang="en-US" sz="1500" dirty="0"/>
          </a:p>
        </p:txBody>
      </p:sp>
      <p:pic>
        <p:nvPicPr>
          <p:cNvPr id="5" name="Image 1" descr="Illustr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234440"/>
            <a:ext cx="3312466" cy="3017520"/>
          </a:xfrm>
          <a:prstGeom prst="rect">
            <a:avLst/>
          </a:prstGeom>
        </p:spPr>
      </p:pic>
      <p:pic>
        <p:nvPicPr>
          <p:cNvPr id="6" name="Image 2" descr="Illustr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926080"/>
            <a:ext cx="1970254" cy="1783080"/>
          </a:xfrm>
          <a:prstGeom prst="rect">
            <a:avLst/>
          </a:prstGeom>
        </p:spPr>
      </p:pic>
      <p:sp>
        <p:nvSpPr>
          <p:cNvPr id="7" name="Panel"/>
          <p:cNvSpPr/>
          <p:nvPr/>
        </p:nvSpPr>
        <p:spPr>
          <a:xfrm>
            <a:off x="2468880" y="3291840"/>
            <a:ext cx="2651760" cy="118872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2560320" y="33375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2F1FF"/>
                </a:solidFill>
              </a:rPr>
              <a:t>Presented by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F2F1FF"/>
                </a:solidFill>
              </a:rPr>
              <a:t>M. Laasya Sri   2520090196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F2F1FF"/>
                </a:solidFill>
              </a:rPr>
              <a:t>M. Rajini   2520090197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  <a:effectLst>
            <a:outerShdw blurRad="38100" dist="12700" dir="2700000" algn="bl" rotWithShape="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Abstract</a:t>
            </a:r>
            <a:endParaRPr lang="en-US" sz="3200" dirty="0"/>
          </a:p>
        </p:txBody>
      </p:sp>
      <p:sp>
        <p:nvSpPr>
          <p:cNvPr id="3" name="Panel"/>
          <p:cNvSpPr/>
          <p:nvPr/>
        </p:nvSpPr>
        <p:spPr>
          <a:xfrm>
            <a:off x="457200" y="1143000"/>
            <a:ext cx="5760720" cy="352044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1FF"/>
                </a:solidFill>
              </a:rPr>
              <a:t>A browser-based system to plan and monitor daily deliveries.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1FF"/>
                </a:solidFill>
              </a:rPr>
              <a:t>Takes delivery and vehicle details as input.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1FF"/>
                </a:solidFill>
              </a:rPr>
              <a:t>Assigns packages to vehicles with a greedy capacity-based method.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1FF"/>
                </a:solidFill>
              </a:rPr>
              <a:t>Finds shortest paths on a road graph using Dijkstra's algorithm.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1FF"/>
                </a:solidFill>
              </a:rPr>
              <a:t>Compares a greedy nearest-stop route and keeps the shorter one.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1FF"/>
                </a:solidFill>
              </a:rPr>
              <a:t>Handles traffic with a traffic factor and re-routing around jams.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1FF"/>
                </a:solidFill>
              </a:rPr>
              <a:t>Reports distance, time, fuel and cost on an SVG map and charts.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1FF"/>
                </a:solidFill>
              </a:rPr>
              <a:t>Built with HTML, CSS, JavaScript and an optional Node.js backend.</a:t>
            </a:r>
            <a:endParaRPr lang="en-US" sz="1200" dirty="0"/>
          </a:p>
        </p:txBody>
      </p:sp>
      <p:pic>
        <p:nvPicPr>
          <p:cNvPr id="5" name="Image 0" descr="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2693481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  <a:effectLst>
            <a:outerShdw blurRad="38100" dist="12700" dir="2700000" algn="bl" rotWithShape="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Introduction</a:t>
            </a:r>
            <a:endParaRPr lang="en-US" sz="3200" dirty="0"/>
          </a:p>
        </p:txBody>
      </p:sp>
      <p:pic>
        <p:nvPicPr>
          <p:cNvPr id="3" name="Image 0" descr="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1092192" cy="1005840"/>
          </a:xfrm>
          <a:prstGeom prst="rect">
            <a:avLst/>
          </a:prstGeom>
        </p:spPr>
      </p:pic>
      <p:pic>
        <p:nvPicPr>
          <p:cNvPr id="4" name="Image 1" descr="Illustr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37160"/>
            <a:ext cx="1070070" cy="1005840"/>
          </a:xfrm>
          <a:prstGeom prst="rect">
            <a:avLst/>
          </a:prstGeom>
        </p:spPr>
      </p:pic>
      <p:sp>
        <p:nvSpPr>
          <p:cNvPr id="5" name="Panel"/>
          <p:cNvSpPr/>
          <p:nvPr/>
        </p:nvSpPr>
        <p:spPr>
          <a:xfrm>
            <a:off x="731520" y="1325880"/>
            <a:ext cx="7680960" cy="324612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960120" y="1554480"/>
            <a:ext cx="7223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2F1FF"/>
                </a:solidFill>
              </a:rPr>
              <a:t>Delivery businesses handle many delivery locations every day.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2F1FF"/>
                </a:solidFill>
              </a:rPr>
              <a:t>Poor route planning increases distance, fuel use, delivery time and cost.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2F1FF"/>
                </a:solidFill>
              </a:rPr>
              <a:t>Vehicle capacity limits how many packages each vehicle can carry.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2F1FF"/>
                </a:solidFill>
              </a:rPr>
              <a:t>Customer time windows and traffic add more constraints.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2F1FF"/>
                </a:solidFill>
              </a:rPr>
              <a:t>Planning routes by hand is slow and error-prone.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2F1FF"/>
                </a:solidFill>
              </a:rPr>
              <a:t>This system automates assignment and routing using Dijkstra and greedy methods to give practical, low-cost routes.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63040" y="228600"/>
            <a:ext cx="6217920" cy="731520"/>
          </a:xfrm>
          <a:prstGeom prst="rect">
            <a:avLst/>
          </a:prstGeom>
          <a:noFill/>
          <a:ln/>
          <a:effectLst>
            <a:outerShdw blurRad="38100" dist="12700" dir="2700000" algn="bl" rotWithShape="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Literature Survey</a:t>
            </a:r>
            <a:endParaRPr lang="en-US" sz="3200" dirty="0"/>
          </a:p>
        </p:txBody>
      </p:sp>
      <p:pic>
        <p:nvPicPr>
          <p:cNvPr id="3" name="Image 0" descr="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"/>
            <a:ext cx="1161945" cy="1051560"/>
          </a:xfrm>
          <a:prstGeom prst="rect">
            <a:avLst/>
          </a:prstGeom>
        </p:spPr>
      </p:pic>
      <p:pic>
        <p:nvPicPr>
          <p:cNvPr id="4" name="Image 1" descr="Illustr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91440"/>
            <a:ext cx="1341593" cy="1188720"/>
          </a:xfrm>
          <a:prstGeom prst="rect">
            <a:avLst/>
          </a:prstGeom>
        </p:spPr>
      </p:pic>
      <p:sp>
        <p:nvSpPr>
          <p:cNvPr id="5" name="Title underline"/>
          <p:cNvSpPr/>
          <p:nvPr/>
        </p:nvSpPr>
        <p:spPr>
          <a:xfrm>
            <a:off x="1463040" y="1024128"/>
            <a:ext cx="6217920" cy="0"/>
          </a:xfrm>
          <a:prstGeom prst="line">
            <a:avLst/>
          </a:prstGeom>
          <a:noFill/>
          <a:ln w="19050">
            <a:solidFill>
              <a:srgbClr val="F2F1FF"/>
            </a:solidFill>
            <a:prstDash val="solid"/>
          </a:ln>
        </p:spPr>
      </p:sp>
      <p:sp>
        <p:nvSpPr>
          <p:cNvPr id="6" name="Panel"/>
          <p:cNvSpPr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1554480"/>
            <a:ext cx="7589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</a:rPr>
              <a:t>Vehicle Routing Problem (VRP): </a:t>
            </a:r>
            <a:r>
              <a:rPr lang="en-US" sz="1250" dirty="0">
                <a:solidFill>
                  <a:srgbClr val="F2F1FF"/>
                </a:solidFill>
              </a:rPr>
              <a:t>Finds the best routes for vehicles to visit many delivery locations.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</a:rPr>
              <a:t>Vehicle Capacity: </a:t>
            </a:r>
            <a:r>
              <a:rPr lang="en-US" sz="1250" dirty="0">
                <a:solidFill>
                  <a:srgbClr val="F2F1FF"/>
                </a:solidFill>
              </a:rPr>
              <a:t>Routes must be planned without exceeding the load each vehicle can carry.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</a:rPr>
              <a:t>Time Windows: </a:t>
            </a:r>
            <a:r>
              <a:rPr lang="en-US" sz="1250" dirty="0">
                <a:solidFill>
                  <a:srgbClr val="F2F1FF"/>
                </a:solidFill>
              </a:rPr>
              <a:t>Deliveries should be completed within the time the customer specifies.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</a:rPr>
              <a:t>Shortest Path (Dijkstra): </a:t>
            </a:r>
            <a:r>
              <a:rPr lang="en-US" sz="1250" dirty="0">
                <a:solidFill>
                  <a:srgbClr val="F2F1FF"/>
                </a:solidFill>
              </a:rPr>
              <a:t>Finds the least-distance path between two locations on a road graph.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</a:rPr>
              <a:t>Route Heuristics: </a:t>
            </a:r>
            <a:r>
              <a:rPr lang="en-US" sz="1250" dirty="0">
                <a:solidFill>
                  <a:srgbClr val="F2F1FF"/>
                </a:solidFill>
              </a:rPr>
              <a:t>Greedy methods such as nearest-stop give good routes quickly for many stops.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</a:rPr>
              <a:t>Research Gap: </a:t>
            </a:r>
            <a:r>
              <a:rPr lang="en-US" sz="1250" dirty="0">
                <a:solidFill>
                  <a:srgbClr val="F2F1FF"/>
                </a:solidFill>
              </a:rPr>
              <a:t>Many systems solve only one part. Our system combines vehicle assignment, shortest paths, route comparison, tracking and cost reporting in one web app.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  <a:effectLst>
            <a:outerShdw blurRad="38100" dist="12700" dir="2700000" algn="bl" rotWithShape="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Software Requirements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309360" cy="32918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6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6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System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 10 / 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HTML, CSS, JavaScript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 (server.js, no dependencies)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localStorage, data.json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Dijkstra and greedy, in JavaScript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and Charts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SVG and Canvas (no libraries)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Studio Code + Live Server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Edge / Google Chrome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Image 0" descr="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103120"/>
            <a:ext cx="2299692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  <a:effectLst>
            <a:outerShdw blurRad="38100" dist="12700" dir="2700000" algn="bl" rotWithShape="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Hardware Requirements</a:t>
            </a:r>
            <a:endParaRPr lang="en-US" sz="3200" dirty="0"/>
          </a:p>
        </p:txBody>
      </p:sp>
      <p:pic>
        <p:nvPicPr>
          <p:cNvPr id="3" name="Image 0" descr="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813501" cy="9144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371600"/>
          <a:ext cx="6949440" cy="25603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6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Requirement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6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Core i3 / AMD Ryzen 3 or above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GB minimum, 8 GB recommended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GB free space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1366 × 768 resolution or higher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required (runs locally)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Devices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keyboard and mouse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  <a:effectLst>
            <a:outerShdw blurRad="38100" dist="12700" dir="2700000" algn="bl" rotWithShape="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Methodology</a:t>
            </a:r>
            <a:endParaRPr lang="en-US" sz="3200" dirty="0"/>
          </a:p>
        </p:txBody>
      </p:sp>
      <p:sp>
        <p:nvSpPr>
          <p:cNvPr id="3" name="Panel"/>
          <p:cNvSpPr/>
          <p:nvPr/>
        </p:nvSpPr>
        <p:spPr>
          <a:xfrm>
            <a:off x="548640" y="1188720"/>
            <a:ext cx="1920240" cy="16002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28016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Deliveries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664208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55648"/>
            <a:ext cx="1700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1FF"/>
                </a:solidFill>
              </a:rPr>
              <a:t>Enter customer, location, packages and time window.</a:t>
            </a:r>
            <a:endParaRPr lang="en-US" sz="1050" dirty="0"/>
          </a:p>
        </p:txBody>
      </p:sp>
      <p:sp>
        <p:nvSpPr>
          <p:cNvPr id="7" name="Panel"/>
          <p:cNvSpPr/>
          <p:nvPr/>
        </p:nvSpPr>
        <p:spPr>
          <a:xfrm>
            <a:off x="2587752" y="1188720"/>
            <a:ext cx="1920240" cy="16002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28016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Vehicles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62072" y="1664208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755648"/>
            <a:ext cx="1700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1FF"/>
                </a:solidFill>
              </a:rPr>
              <a:t>Enter capacity, fuel efficiency and availability.</a:t>
            </a:r>
            <a:endParaRPr lang="en-US" sz="1050" dirty="0"/>
          </a:p>
        </p:txBody>
      </p:sp>
      <p:sp>
        <p:nvSpPr>
          <p:cNvPr id="11" name="Panel"/>
          <p:cNvSpPr/>
          <p:nvPr/>
        </p:nvSpPr>
        <p:spPr>
          <a:xfrm>
            <a:off x="4626864" y="1188720"/>
            <a:ext cx="1920240" cy="16002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36592" y="128016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 Network Plan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01184" y="1664208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36592" y="1755648"/>
            <a:ext cx="1700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1FF"/>
                </a:solidFill>
              </a:rPr>
              <a:t>Build the road graph and distance matrix with Dijkstra.</a:t>
            </a:r>
            <a:endParaRPr lang="en-US" sz="1050" dirty="0"/>
          </a:p>
        </p:txBody>
      </p:sp>
      <p:sp>
        <p:nvSpPr>
          <p:cNvPr id="15" name="Panel"/>
          <p:cNvSpPr/>
          <p:nvPr/>
        </p:nvSpPr>
        <p:spPr>
          <a:xfrm>
            <a:off x="6665976" y="1188720"/>
            <a:ext cx="1920240" cy="16002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75704" y="128016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Assign Vehicles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0296" y="1664208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75704" y="1755648"/>
            <a:ext cx="1700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1FF"/>
                </a:solidFill>
              </a:rPr>
              <a:t>Place packages in vehicles without exceeding capacity.</a:t>
            </a:r>
            <a:endParaRPr lang="en-US" sz="1050" dirty="0"/>
          </a:p>
        </p:txBody>
      </p:sp>
      <p:sp>
        <p:nvSpPr>
          <p:cNvPr id="19" name="Panel"/>
          <p:cNvSpPr/>
          <p:nvPr/>
        </p:nvSpPr>
        <p:spPr>
          <a:xfrm>
            <a:off x="548640" y="2926080"/>
            <a:ext cx="1920240" cy="16002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0175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Optimize Routes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3401568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493008"/>
            <a:ext cx="1700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1FF"/>
                </a:solidFill>
              </a:rPr>
              <a:t>Compare Dijkstra trips with a greedy sequence; keep the shorter.</a:t>
            </a:r>
            <a:endParaRPr lang="en-US" sz="1050" dirty="0"/>
          </a:p>
        </p:txBody>
      </p:sp>
      <p:sp>
        <p:nvSpPr>
          <p:cNvPr id="23" name="Panel"/>
          <p:cNvSpPr/>
          <p:nvPr/>
        </p:nvSpPr>
        <p:spPr>
          <a:xfrm>
            <a:off x="2587752" y="2926080"/>
            <a:ext cx="1920240" cy="16002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97480" y="30175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Visualize Route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62072" y="3401568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97480" y="3493008"/>
            <a:ext cx="1700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1FF"/>
                </a:solidFill>
              </a:rPr>
              <a:t>Draw routes on the SVG map and re-route around traffic.</a:t>
            </a:r>
            <a:endParaRPr lang="en-US" sz="1050" dirty="0"/>
          </a:p>
        </p:txBody>
      </p:sp>
      <p:sp>
        <p:nvSpPr>
          <p:cNvPr id="27" name="Panel"/>
          <p:cNvSpPr/>
          <p:nvPr/>
        </p:nvSpPr>
        <p:spPr>
          <a:xfrm>
            <a:off x="4626864" y="2926080"/>
            <a:ext cx="1920240" cy="16002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6592" y="30175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Track Deliveries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01184" y="3401568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36592" y="3493008"/>
            <a:ext cx="1700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1FF"/>
                </a:solidFill>
              </a:rPr>
              <a:t>Update status: Pending, In Transit, Delivered.</a:t>
            </a:r>
            <a:endParaRPr lang="en-US" sz="1050" dirty="0"/>
          </a:p>
        </p:txBody>
      </p:sp>
      <p:sp>
        <p:nvSpPr>
          <p:cNvPr id="31" name="Panel"/>
          <p:cNvSpPr/>
          <p:nvPr/>
        </p:nvSpPr>
        <p:spPr>
          <a:xfrm>
            <a:off x="6665976" y="2926080"/>
            <a:ext cx="1920240" cy="16002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75704" y="30175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Reports and Charts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0296" y="3401568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75704" y="3493008"/>
            <a:ext cx="1700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1FF"/>
                </a:solidFill>
              </a:rPr>
              <a:t>Show distance, time, fuel, cost and utilization.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  <a:effectLst>
            <a:outerShdw blurRad="38100" dist="12700" dir="2700000" algn="bl" rotWithShape="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B56ED1-9E50-FF99-E331-3350F5F04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  <a:effectLst>
            <a:outerShdw blurRad="38100" dist="12700" dir="2700000" algn="bl" rotWithShape="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Algorithms and Results</a:t>
            </a:r>
            <a:endParaRPr lang="en-US" sz="3200" dirty="0"/>
          </a:p>
        </p:txBody>
      </p:sp>
      <p:sp>
        <p:nvSpPr>
          <p:cNvPr id="3" name="Panel"/>
          <p:cNvSpPr/>
          <p:nvPr/>
        </p:nvSpPr>
        <p:spPr>
          <a:xfrm>
            <a:off x="548640" y="1188720"/>
            <a:ext cx="2606040" cy="169164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28016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Dijkstra shortest path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664208"/>
            <a:ext cx="20574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55648"/>
            <a:ext cx="238658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1FF"/>
                </a:solidFill>
              </a:rPr>
              <a:t>Finds the shortest road path between locations. Baseline: a separate round trip per stop.</a:t>
            </a:r>
            <a:endParaRPr lang="en-US" sz="1050" dirty="0"/>
          </a:p>
        </p:txBody>
      </p:sp>
      <p:sp>
        <p:nvSpPr>
          <p:cNvPr id="7" name="Panel"/>
          <p:cNvSpPr/>
          <p:nvPr/>
        </p:nvSpPr>
        <p:spPr>
          <a:xfrm>
            <a:off x="3291840" y="1188720"/>
            <a:ext cx="2606040" cy="169164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128016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Greedy nearest-stop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1664208"/>
            <a:ext cx="20574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01568" y="1755648"/>
            <a:ext cx="238658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1FF"/>
                </a:solidFill>
              </a:rPr>
              <a:t>Visits the closest unvisited stop next, then returns to the warehouse.</a:t>
            </a:r>
            <a:endParaRPr lang="en-US" sz="1050" dirty="0"/>
          </a:p>
        </p:txBody>
      </p:sp>
      <p:sp>
        <p:nvSpPr>
          <p:cNvPr id="11" name="Panel"/>
          <p:cNvSpPr/>
          <p:nvPr/>
        </p:nvSpPr>
        <p:spPr>
          <a:xfrm>
            <a:off x="6035040" y="1188720"/>
            <a:ext cx="2606040" cy="169164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4768" y="128016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Greedy first-fit assignment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664208"/>
            <a:ext cx="20574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44768" y="1755648"/>
            <a:ext cx="238658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1FF"/>
                </a:solidFill>
              </a:rPr>
              <a:t>Sorts deliveries by size and fills the first vehicle with enough space.</a:t>
            </a:r>
            <a:endParaRPr lang="en-US" sz="1050" dirty="0"/>
          </a:p>
        </p:txBody>
      </p:sp>
      <p:sp>
        <p:nvSpPr>
          <p:cNvPr id="15" name="Panel"/>
          <p:cNvSpPr/>
          <p:nvPr/>
        </p:nvSpPr>
        <p:spPr>
          <a:xfrm>
            <a:off x="548640" y="3108960"/>
            <a:ext cx="1920240" cy="13716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00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Active Delivery Records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3886200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950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1FF"/>
                </a:solidFill>
              </a:rPr>
              <a:t>Pending and in-transit orders are routed</a:t>
            </a:r>
            <a:endParaRPr lang="en-US" sz="1050" dirty="0"/>
          </a:p>
        </p:txBody>
      </p:sp>
      <p:sp>
        <p:nvSpPr>
          <p:cNvPr id="19" name="Panel"/>
          <p:cNvSpPr/>
          <p:nvPr/>
        </p:nvSpPr>
        <p:spPr>
          <a:xfrm>
            <a:off x="2587752" y="3108960"/>
            <a:ext cx="1920240" cy="13716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79192" y="3200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Vehicles Used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862072" y="3886200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79192" y="3950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1FF"/>
                </a:solidFill>
              </a:rPr>
              <a:t>Only vehicles that receive packages</a:t>
            </a:r>
            <a:endParaRPr lang="en-US" sz="1050" dirty="0"/>
          </a:p>
        </p:txBody>
      </p:sp>
      <p:sp>
        <p:nvSpPr>
          <p:cNvPr id="23" name="Panel"/>
          <p:cNvSpPr/>
          <p:nvPr/>
        </p:nvSpPr>
        <p:spPr>
          <a:xfrm>
            <a:off x="4626864" y="3108960"/>
            <a:ext cx="1920240" cy="13716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3200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Total Route Distance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01184" y="3886200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18304" y="3950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1FF"/>
                </a:solidFill>
              </a:rPr>
              <a:t>Sum of the routes of all vehicles</a:t>
            </a:r>
            <a:endParaRPr lang="en-US" sz="1050" dirty="0"/>
          </a:p>
        </p:txBody>
      </p:sp>
      <p:sp>
        <p:nvSpPr>
          <p:cNvPr id="27" name="Panel"/>
          <p:cNvSpPr/>
          <p:nvPr/>
        </p:nvSpPr>
        <p:spPr>
          <a:xfrm>
            <a:off x="6665976" y="3108960"/>
            <a:ext cx="1920240" cy="13716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57416" y="3200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Best Method Chosen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40296" y="3886200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57416" y="3950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1FF"/>
                </a:solidFill>
              </a:rPr>
              <a:t>Greedy or Dijkstra, whichever is shorter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4114800" cy="1280160"/>
          </a:xfrm>
          <a:prstGeom prst="rect">
            <a:avLst/>
          </a:prstGeom>
          <a:noFill/>
          <a:ln/>
          <a:effectLst>
            <a:outerShdw blurRad="38100" dist="12700" dir="2700000" algn="bl" rotWithShape="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Panel"/>
          <p:cNvSpPr/>
          <p:nvPr/>
        </p:nvSpPr>
        <p:spPr>
          <a:xfrm>
            <a:off x="548640" y="2926080"/>
            <a:ext cx="3108960" cy="13716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9718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2F1FF"/>
                </a:solidFill>
              </a:rPr>
              <a:t>Presented by</a:t>
            </a:r>
            <a:endParaRPr lang="en-US" sz="130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1200" dirty="0">
                <a:solidFill>
                  <a:srgbClr val="F2F1FF"/>
                </a:solidFill>
              </a:rPr>
              <a:t>M. Laasya Sri   2520090196</a:t>
            </a:r>
            <a:endParaRPr lang="en-US" sz="130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1200" dirty="0">
                <a:solidFill>
                  <a:srgbClr val="F2F1FF"/>
                </a:solidFill>
              </a:rPr>
              <a:t>M. Rajini   2520090197</a:t>
            </a:r>
            <a:endParaRPr lang="en-US" sz="1300" dirty="0"/>
          </a:p>
        </p:txBody>
      </p:sp>
      <p:pic>
        <p:nvPicPr>
          <p:cNvPr id="5" name="Image 0" descr="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914400"/>
            <a:ext cx="3914732" cy="3566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RO Sky">
  <a:themeElements>
    <a:clrScheme name="DRO Sky">
      <a:dk1>
        <a:srgbClr val="231D60"/>
      </a:dk1>
      <a:lt1>
        <a:srgbClr val="F2F1FF"/>
      </a:lt1>
      <a:dk2>
        <a:srgbClr val="5C56A4"/>
      </a:dk2>
      <a:lt2>
        <a:srgbClr val="78C3D8"/>
      </a:lt2>
      <a:accent1>
        <a:srgbClr val="526EFF"/>
      </a:accent1>
      <a:accent2>
        <a:srgbClr val="5C56A4"/>
      </a:accent2>
      <a:accent3>
        <a:srgbClr val="231D60"/>
      </a:accent3>
      <a:accent4>
        <a:srgbClr val="78C3D8"/>
      </a:accent4>
      <a:accent5>
        <a:srgbClr val="F2F1FF"/>
      </a:accent5>
      <a:accent6>
        <a:srgbClr val="526EFF"/>
      </a:accent6>
      <a:hlink>
        <a:srgbClr val="526EFF"/>
      </a:hlink>
      <a:folHlink>
        <a:srgbClr val="5C56A4"/>
      </a:folHlink>
    </a:clrScheme>
    <a:fontScheme name="DRO Sk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620</Words>
  <Application>Microsoft Office PowerPoint</Application>
  <PresentationFormat>On-screen Show (16:9)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DRO Sky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Route Optimizer</dc:title>
  <dc:subject>PptxGenJS Presentation</dc:subject>
  <dc:creator>PptxGenJS</dc:creator>
  <cp:lastModifiedBy>muddaipetarajini@outlook.com</cp:lastModifiedBy>
  <cp:revision>2</cp:revision>
  <dcterms:created xsi:type="dcterms:W3CDTF">2026-10-12T05:42:15Z</dcterms:created>
  <dcterms:modified xsi:type="dcterms:W3CDTF">2026-10-12T06:06:48Z</dcterms:modified>
</cp:coreProperties>
</file>